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96" r:id="rId1"/>
  </p:sldMasterIdLst>
  <p:notesMasterIdLst>
    <p:notesMasterId r:id="rId15"/>
  </p:notesMasterIdLst>
  <p:sldIdLst>
    <p:sldId id="256" r:id="rId2"/>
    <p:sldId id="271" r:id="rId3"/>
    <p:sldId id="268" r:id="rId4"/>
    <p:sldId id="272" r:id="rId5"/>
    <p:sldId id="273" r:id="rId6"/>
    <p:sldId id="274" r:id="rId7"/>
    <p:sldId id="266" r:id="rId8"/>
    <p:sldId id="267" r:id="rId9"/>
    <p:sldId id="259" r:id="rId10"/>
    <p:sldId id="269" r:id="rId11"/>
    <p:sldId id="264" r:id="rId12"/>
    <p:sldId id="270" r:id="rId13"/>
    <p:sldId id="260" r:id="rId14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סגנון ביניים 2 - הדגשה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2833802-FEF1-4C79-8D5D-14CF1EAF98D9}" styleName="סגנון בהיר 2 - הדגשה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A107856-5554-42FB-B03E-39F5DBC370BA}" styleName="סגנון ביניים 4 - הדגשה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84E427A-3D55-4303-BF80-6455036E1DE7}" styleName="סגנון ערכת נושא 1 - הדגשה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סגנון ביניים 2 - הדגשה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22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-406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9D6F0F27-EA17-4C9B-B83B-E299571031F8}" type="datetimeFigureOut">
              <a:rPr lang="he-IL" smtClean="0"/>
              <a:t>י'/שבט/תשפ"ו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B818E006-5012-488C-8744-46D804A1967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49213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B31F6-A1D6-1629-8D62-C48F735B6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555C0E83-3D44-EACB-2FA4-E294AE2BAF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13229A54-B790-0BEF-928C-A6CC0F877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DB70DAF-4001-CDF7-9D44-0FCA0E8B7F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E006-5012-488C-8744-46D804A19673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71288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CF44D-E919-AEA3-AEA7-1350A3E17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CBDD560B-C38E-4488-D3C7-4C11277911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EA0FD485-4E19-D1D8-97E8-1764C6EBF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7661DCC-3816-869F-103A-94D02A61BA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E006-5012-488C-8744-46D804A19673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0608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DC900-03BB-C44E-108C-23DEE6FFD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9F4C4483-57A6-9D5B-376E-1D271B5D6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6E492950-114D-FE19-2385-6BC1C19E0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66C58F4-187C-CB7F-5AE7-4C8F03A20E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E006-5012-488C-8744-46D804A19673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263013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8AFD5-2E1C-E5E4-DE1B-CFD30F11F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B1AD321A-A1C8-9587-567B-981F3D5697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324851EA-16B2-5084-74D5-0911B26453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9525F8CD-6140-6CA0-2981-9A367267B5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E006-5012-488C-8744-46D804A19673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20270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E006-5012-488C-8744-46D804A19673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532538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E79CE-962D-CC1B-32C8-A6F83FE82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4EA4B710-8E03-F0A1-4413-CECE763730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826FB7D5-C32E-0132-D195-68CCAC4FE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45E27EB3-421B-F690-DD24-F962EE7F62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E006-5012-488C-8744-46D804A19673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780649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3E2EB-486F-88BA-EED4-04540146D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D766B205-5A1E-98F0-3E42-CF4FC4A369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8CAF2699-553C-DCDD-DC99-885171EC74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FA55011-0FBC-835B-D8BC-9720F063B5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E006-5012-488C-8744-46D804A19673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808169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19080-93EE-B1E6-6E91-CEA68BAB5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9A8C24A-0F1F-2371-5F45-8EDFC2714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BFE7FF5D-DB38-0717-C2EA-691FDF4CB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FB07959-D18C-1776-4A93-8F44FDAC20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E006-5012-488C-8744-46D804A19673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19897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333B1-9636-BEAA-C78C-B9ED8BF63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B78EA2A0-D332-6458-E7D8-C68EBD1BE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1FB3A698-D3C9-05BA-DA10-6AD91B069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889100B-416E-F55B-35D2-1229D26AB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E006-5012-488C-8744-46D804A19673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605681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E51B1-090F-2580-8CA1-052A1B020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D450CB34-676F-2F82-43A8-E975FBAD77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43AA764A-8290-51C7-453F-089C18023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2C68DD3-EAFC-054B-DB49-2CDEAF590D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E006-5012-488C-8744-46D804A19673}" type="slidenum">
              <a:rPr lang="he-IL" smtClean="0"/>
              <a:t>11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626052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DD281-657F-F29C-C512-E7210249B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2285E708-559E-FEEA-4681-93F897E606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6E33F76-B819-2CD9-A9BF-20F94B33D7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F75D553-92ED-225D-9872-9E0194B4E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E006-5012-488C-8744-46D804A19673}" type="slidenum">
              <a:rPr lang="he-IL" smtClean="0"/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886842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1CE73-727B-3EDB-49D0-70B035290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B9300D4A-F9CA-9F56-720E-76938A7EC2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DF09A971-D1B3-059C-30B1-ADD2BE98D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F46134D-7BE6-1EF8-A511-6E7BB4D9D5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E006-5012-488C-8744-46D804A19673}" type="slidenum">
              <a:rPr lang="he-IL" smtClean="0"/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95590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542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40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678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285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088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125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202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625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611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78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048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38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רשת של נקודות מחוברות">
            <a:extLst>
              <a:ext uri="{FF2B5EF4-FFF2-40B4-BE49-F238E27FC236}">
                <a16:creationId xmlns:a16="http://schemas.microsoft.com/office/drawing/2014/main" id="{D8F12B68-469E-8B2B-39CC-875E97673C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0003" r="442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8941C112-DB8F-D35D-3A18-5355FBBAC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8656610" cy="3290107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7300" dirty="0" err="1">
                <a:latin typeface="David" panose="020E0502060401010101" pitchFamily="34" charset="-79"/>
                <a:cs typeface="David" panose="020E0502060401010101" pitchFamily="34" charset="-79"/>
              </a:rPr>
              <a:t>ActionSense</a:t>
            </a:r>
            <a:br>
              <a:rPr kumimoji="0" lang="en-US" sz="330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</a:br>
            <a:br>
              <a:rPr kumimoji="0" lang="en-US" sz="330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</a:br>
            <a:r>
              <a:rPr kumimoji="0" lang="en-US" sz="330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Final Presentation – </a:t>
            </a:r>
            <a:r>
              <a:rPr lang="en-US" sz="3300" dirty="0">
                <a:latin typeface="David" panose="020E0502060401010101" pitchFamily="34" charset="-79"/>
                <a:cs typeface="David" panose="020E0502060401010101" pitchFamily="34" charset="-79"/>
              </a:rPr>
              <a:t>Extracting Action Items from Unstructured &amp; Noisy Meeting Data</a:t>
            </a:r>
            <a:br>
              <a:rPr kumimoji="0" lang="en-US" sz="330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</a:br>
            <a:br>
              <a:rPr lang="en-US" sz="3300" dirty="0">
                <a:solidFill>
                  <a:srgbClr val="FFFFFF"/>
                </a:solidFill>
              </a:rPr>
            </a:br>
            <a:br>
              <a:rPr lang="en-US" sz="3300" dirty="0">
                <a:solidFill>
                  <a:srgbClr val="FFFFFF"/>
                </a:solidFill>
              </a:rPr>
            </a:br>
            <a:br>
              <a:rPr lang="en-US" sz="3300" dirty="0">
                <a:solidFill>
                  <a:srgbClr val="FFFFFF"/>
                </a:solidFill>
              </a:rPr>
            </a:br>
            <a:br>
              <a:rPr lang="en-US" b="0" cap="all" dirty="0"/>
            </a:br>
            <a:endParaRPr lang="he-IL" sz="3300" dirty="0">
              <a:solidFill>
                <a:srgbClr val="FFFFFF"/>
              </a:solidFill>
            </a:endParaRP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DBDA89F-6508-9236-E00F-C6BB600CD0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9510050" cy="1724029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endParaRPr lang="en-US" dirty="0">
              <a:solidFill>
                <a:srgbClr val="FFFFFF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rgbClr val="FFFF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Large Language Models and its Applications</a:t>
            </a:r>
            <a:endParaRPr lang="en-US" b="1" dirty="0">
              <a:solidFill>
                <a:srgbClr val="FFFFFF"/>
              </a:solidFill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FFFF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Meir Weinberg &amp; Yael Reina</a:t>
            </a:r>
            <a:endParaRPr lang="he-IL" b="1" dirty="0">
              <a:solidFill>
                <a:srgbClr val="FFFFFF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238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42DA1-73C5-849B-F919-7B54EFE4D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D0EA116-03A5-A6FB-9418-24BB877E6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רשת של נקודות מחוברות">
            <a:extLst>
              <a:ext uri="{FF2B5EF4-FFF2-40B4-BE49-F238E27FC236}">
                <a16:creationId xmlns:a16="http://schemas.microsoft.com/office/drawing/2014/main" id="{18F73C42-9BCA-B8BE-D668-534792BED5A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7000"/>
          </a:blip>
          <a:srcRect l="20013" r="452" b="1"/>
          <a:stretch>
            <a:fillRect/>
          </a:stretch>
        </p:blipFill>
        <p:spPr>
          <a:xfrm>
            <a:off x="3068" y="10"/>
            <a:ext cx="12188932" cy="685799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70180937-7F94-F412-F4B5-867F7C53E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282" y="1261370"/>
            <a:ext cx="4079723" cy="186283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Review and project definition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F6B4F0-F2EB-84F9-429F-D419FFB5F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F3F86C-CF0B-8BD1-9C69-29D636ACC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234EAF-8936-6602-038B-39812B6DA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8255" y="978408"/>
            <a:ext cx="6929489" cy="5367528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3700" b="1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The problem</a:t>
            </a:r>
          </a:p>
          <a:p>
            <a:pPr>
              <a:lnSpc>
                <a:spcPct val="100000"/>
              </a:lnSpc>
            </a:pPr>
            <a:r>
              <a:rPr lang="en-US" sz="3100" b="1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The "Hebrew-English" Gap:</a:t>
            </a:r>
            <a:r>
              <a:rPr lang="en-US" sz="3100" b="0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. </a:t>
            </a:r>
            <a:r>
              <a:rPr lang="en-US" sz="3100" dirty="0">
                <a:latin typeface="David" panose="020E0502060401010101" pitchFamily="34" charset="-79"/>
                <a:cs typeface="David" panose="020E0502060401010101" pitchFamily="34" charset="-79"/>
              </a:rPr>
              <a:t>State-of-the-Art models excel in formal English but </a:t>
            </a:r>
            <a:r>
              <a:rPr lang="en-US" sz="3100" b="0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cannot accurately extract action items when team members switch languages mid-sentence.</a:t>
            </a:r>
            <a:endParaRPr lang="en-US" sz="31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>
              <a:lnSpc>
                <a:spcPct val="100000"/>
              </a:lnSpc>
            </a:pPr>
            <a:r>
              <a:rPr lang="en-US" sz="3100" b="1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Cultural Context:</a:t>
            </a:r>
            <a:r>
              <a:rPr lang="en-US" sz="3100" b="0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The informal nature of Israeli high-tech meetings creates "noise" (</a:t>
            </a:r>
            <a:r>
              <a:rPr lang="en-US" sz="3100" dirty="0">
                <a:latin typeface="David" panose="020E0502060401010101" pitchFamily="34" charset="-79"/>
                <a:cs typeface="David" panose="020E0502060401010101" pitchFamily="34" charset="-79"/>
              </a:rPr>
              <a:t>slang and rapid language shifts ) </a:t>
            </a:r>
            <a:r>
              <a:rPr lang="en-US" sz="3100" b="0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that confuses standard LLMs, resulting in missed tasks and fabricated deadlines.</a:t>
            </a:r>
            <a:endParaRPr lang="en-US" sz="3100" b="1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3700" b="1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3700" b="1" dirty="0">
                <a:latin typeface="David" panose="020E0502060401010101" pitchFamily="34" charset="-79"/>
                <a:cs typeface="David" panose="020E0502060401010101" pitchFamily="34" charset="-79"/>
              </a:rPr>
              <a:t>Our Goal</a:t>
            </a:r>
          </a:p>
          <a:p>
            <a:pPr>
              <a:lnSpc>
                <a:spcPct val="100000"/>
              </a:lnSpc>
            </a:pPr>
            <a:r>
              <a:rPr lang="en-US" sz="3100" b="1" dirty="0">
                <a:latin typeface="David" panose="020E0502060401010101" pitchFamily="34" charset="-79"/>
                <a:cs typeface="David" panose="020E0502060401010101" pitchFamily="34" charset="-79"/>
              </a:rPr>
              <a:t>Data:</a:t>
            </a:r>
            <a:r>
              <a:rPr lang="en-US" sz="3100" dirty="0">
                <a:latin typeface="David" panose="020E0502060401010101" pitchFamily="34" charset="-79"/>
                <a:cs typeface="David" panose="020E0502060401010101" pitchFamily="34" charset="-79"/>
              </a:rPr>
              <a:t> Creation of the synthetic dataset for Hebrew-English organizational dialogue</a:t>
            </a:r>
            <a:endParaRPr lang="en-US" sz="3100" b="1" i="0" u="none" strike="noStrike" dirty="0">
              <a:solidFill>
                <a:srgbClr val="000000"/>
              </a:solidFill>
              <a:effectLst/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>
              <a:lnSpc>
                <a:spcPct val="100000"/>
              </a:lnSpc>
            </a:pPr>
            <a:r>
              <a:rPr lang="en-US" sz="3100" b="1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Automated Action:</a:t>
            </a:r>
            <a:r>
              <a:rPr lang="en-US" sz="3100" b="0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en-US" sz="3100" dirty="0">
                <a:latin typeface="David" panose="020E0502060401010101" pitchFamily="34" charset="-79"/>
                <a:cs typeface="David" panose="020E0502060401010101" pitchFamily="34" charset="-79"/>
              </a:rPr>
              <a:t>Developing a robust pipeline for extracting structured Action Items (Who, What, When) from noisy and bi-lingual </a:t>
            </a:r>
            <a:r>
              <a:rPr lang="en-US" sz="3100" b="0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Israeli high-tech meetings</a:t>
            </a:r>
            <a:endParaRPr lang="en-US" sz="31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6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6" name="תמונה 5" descr="תמונה שמכילה טקסט, צילום מסך, מספר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DD38ABD-C0F6-3639-B38C-6D374667E2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203" b="90430" l="9961" r="89974">
                        <a14:foregroundMark x1="25326" y1="90430" x2="25326" y2="90430"/>
                        <a14:foregroundMark x1="66862" y1="8203" x2="66862" y2="8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2792" y="3234959"/>
            <a:ext cx="3857860" cy="257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742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33233-6E23-C6FB-964F-799BAF33C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3038032-4E63-9D37-6F0E-C3E6415DF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רשת של נקודות מחוברות">
            <a:extLst>
              <a:ext uri="{FF2B5EF4-FFF2-40B4-BE49-F238E27FC236}">
                <a16:creationId xmlns:a16="http://schemas.microsoft.com/office/drawing/2014/main" id="{6F284422-99ED-B8F3-1C21-93E75D8C0E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7000"/>
          </a:blip>
          <a:srcRect l="20013" r="452" b="1"/>
          <a:stretch>
            <a:fillRect/>
          </a:stretch>
        </p:blipFill>
        <p:spPr>
          <a:xfrm>
            <a:off x="3068" y="233177"/>
            <a:ext cx="12188932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F8D94F6-6829-12EB-8E04-04C726059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6EADA8-4618-D3A6-509C-11C8B0844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תמונה 12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64841DC-F2E8-832D-4E3F-3B816630C2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442" y="308979"/>
            <a:ext cx="11440067" cy="6240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863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3ADD0-4F2F-C362-5A10-52562ED54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A1F39AB-E80D-3D29-947D-2EF6E5B8C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רשת של נקודות מחוברות">
            <a:extLst>
              <a:ext uri="{FF2B5EF4-FFF2-40B4-BE49-F238E27FC236}">
                <a16:creationId xmlns:a16="http://schemas.microsoft.com/office/drawing/2014/main" id="{24892B91-B022-0EDB-8C3F-5A4FC7B46B0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7000"/>
          </a:blip>
          <a:srcRect l="20013" r="452" b="1"/>
          <a:stretch>
            <a:fillRect/>
          </a:stretch>
        </p:blipFill>
        <p:spPr>
          <a:xfrm>
            <a:off x="3068" y="262895"/>
            <a:ext cx="12188932" cy="685799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69E8FEE6-C35E-8ACC-0AD0-E9FE5103E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282" y="1261370"/>
            <a:ext cx="3967267" cy="2430520"/>
          </a:xfrm>
        </p:spPr>
        <p:txBody>
          <a:bodyPr>
            <a:noAutofit/>
          </a:bodyPr>
          <a:lstStyle/>
          <a:p>
            <a:r>
              <a:rPr lang="en-US" sz="4000" dirty="0">
                <a:latin typeface="David" panose="020E0502060401010101" pitchFamily="34" charset="-79"/>
                <a:cs typeface="David" panose="020E0502060401010101" pitchFamily="34" charset="-79"/>
              </a:rPr>
              <a:t>Project achievements and novelty</a:t>
            </a:r>
            <a:endParaRPr lang="he-IL" sz="40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A144E3-A153-BBF7-4EF4-5D89E372E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F6C545-3BE1-0031-7D9D-0E0E6593C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AAC0B9A-1344-9264-A529-715F91126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8255" y="978408"/>
            <a:ext cx="6929489" cy="53675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What we achieved?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6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6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6" name="תמונה 5" descr="תמונה שמכילה טקסט, צילום מסך, מספר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04E03C0-09B1-20FF-4D11-09DA7CE131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203" b="90430" l="9961" r="89974">
                        <a14:foregroundMark x1="25326" y1="90430" x2="25326" y2="90430"/>
                        <a14:foregroundMark x1="66862" y1="8203" x2="66862" y2="8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9278" y="4069349"/>
            <a:ext cx="3857860" cy="25719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6D56B9-CD2B-B489-DE3B-8B08F152DFF3}"/>
              </a:ext>
            </a:extLst>
          </p:cNvPr>
          <p:cNvSpPr txBox="1"/>
          <p:nvPr/>
        </p:nvSpPr>
        <p:spPr>
          <a:xfrm>
            <a:off x="4738255" y="1616423"/>
            <a:ext cx="654415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400" rtl="0" eaLnBrk="1" latinLnBrk="0" hangingPunct="1"/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Data:</a:t>
            </a:r>
            <a:endParaRPr lang="en-US" sz="2000" b="1" dirty="0">
              <a:solidFill>
                <a:srgbClr val="00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285750" indent="-28575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Novel Data Source</a:t>
            </a:r>
            <a:r>
              <a:rPr lang="en-US" sz="2000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: Developed a unique dataset tailored to the linguistic patterns of Israeli tech hubs</a:t>
            </a:r>
          </a:p>
          <a:p>
            <a:pPr algn="l" defTabSz="914400" rtl="0" eaLnBrk="1" latinLnBrk="0" hangingPunct="1"/>
            <a:endParaRPr lang="en-US" sz="2000" i="0" u="none" strike="noStrike" dirty="0">
              <a:solidFill>
                <a:srgbClr val="000000"/>
              </a:solidFill>
              <a:effectLst/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Data quality</a:t>
            </a:r>
            <a:r>
              <a:rPr lang="en-US" sz="2000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: 230 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High-quality synthetic Data Generation using LLMs</a:t>
            </a:r>
          </a:p>
          <a:p>
            <a:pPr algn="l" rtl="0"/>
            <a:endParaRPr lang="en-US" sz="20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l" rtl="0"/>
            <a:r>
              <a:rPr lang="en-US" sz="2000" b="1" dirty="0">
                <a:latin typeface="David" panose="020E0502060401010101" pitchFamily="34" charset="-79"/>
                <a:cs typeface="David" panose="020E0502060401010101" pitchFamily="34" charset="-79"/>
              </a:rPr>
              <a:t>Model and Evaluation: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b="1" dirty="0">
                <a:latin typeface="David" panose="020E0502060401010101" pitchFamily="34" charset="-79"/>
                <a:cs typeface="David" panose="020E0502060401010101" pitchFamily="34" charset="-79"/>
              </a:rPr>
              <a:t>From 1% to ~60%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:</a:t>
            </a:r>
            <a:r>
              <a:rPr lang="en-US" sz="2000" b="1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Successfully fine-tuned llama-3-8b-bnb-4bit model to become a specialized task extractor</a:t>
            </a:r>
          </a:p>
          <a:p>
            <a:pPr algn="l" rtl="0"/>
            <a:endParaRPr lang="en-US" sz="20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b="1" dirty="0">
                <a:latin typeface="David" panose="020E0502060401010101" pitchFamily="34" charset="-79"/>
                <a:cs typeface="David" panose="020E0502060401010101" pitchFamily="34" charset="-79"/>
              </a:rPr>
              <a:t>Robust Evaluation Pipeline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: a custom pipeline using the </a:t>
            </a:r>
            <a:r>
              <a:rPr lang="en-US" sz="2000" b="1" dirty="0">
                <a:latin typeface="David" panose="020E0502060401010101" pitchFamily="34" charset="-79"/>
                <a:cs typeface="David" panose="020E0502060401010101" pitchFamily="34" charset="-79"/>
              </a:rPr>
              <a:t>Hungarian Algorithm 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for list matching and </a:t>
            </a:r>
            <a:r>
              <a:rPr lang="en-US" sz="2000" b="1" dirty="0" err="1">
                <a:latin typeface="David" panose="020E0502060401010101" pitchFamily="34" charset="-79"/>
                <a:cs typeface="David" panose="020E0502060401010101" pitchFamily="34" charset="-79"/>
              </a:rPr>
              <a:t>AlephBERT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for semantic similarity in Hebrew</a:t>
            </a:r>
            <a:r>
              <a:rPr lang="en-US" sz="2200" dirty="0">
                <a:latin typeface="David" panose="020E0502060401010101" pitchFamily="34" charset="-79"/>
                <a:cs typeface="David" panose="020E0502060401010101" pitchFamily="34" charset="-79"/>
              </a:rPr>
              <a:t>.</a:t>
            </a:r>
            <a:endParaRPr lang="en-US" sz="2400" b="1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617044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1A794-396D-88FB-52A0-839F2591E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4CCF7A8-1FC8-FF25-68A3-ADE180300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רשת של נקודות מחוברות">
            <a:extLst>
              <a:ext uri="{FF2B5EF4-FFF2-40B4-BE49-F238E27FC236}">
                <a16:creationId xmlns:a16="http://schemas.microsoft.com/office/drawing/2014/main" id="{9486EC88-E85D-0FB5-F186-8E909416E8E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7000"/>
          </a:blip>
          <a:srcRect l="20013" r="452" b="1"/>
          <a:stretch>
            <a:fillRect/>
          </a:stretch>
        </p:blipFill>
        <p:spPr>
          <a:xfrm>
            <a:off x="3068" y="10"/>
            <a:ext cx="12188932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04B9849-D2A7-95A0-B2DC-653CA67A59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2B1811-A484-F579-41A7-4B025BBDD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732CFF9-16D3-1510-E303-5C9736B1D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8255" y="978408"/>
            <a:ext cx="6929489" cy="53675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4800" dirty="0"/>
              <a:t> </a:t>
            </a:r>
            <a:r>
              <a:rPr lang="en-US" sz="2800" b="1" dirty="0">
                <a:latin typeface="David" panose="020E0502060401010101" pitchFamily="34" charset="-79"/>
                <a:cs typeface="David" panose="020E0502060401010101" pitchFamily="34" charset="-79"/>
              </a:rPr>
              <a:t>Data</a:t>
            </a:r>
            <a:endParaRPr lang="en-US" sz="28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6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ABD0C7-9C7E-CD61-70FF-9F525F5CE91E}"/>
              </a:ext>
            </a:extLst>
          </p:cNvPr>
          <p:cNvSpPr txBox="1"/>
          <p:nvPr/>
        </p:nvSpPr>
        <p:spPr>
          <a:xfrm>
            <a:off x="4895921" y="1919747"/>
            <a:ext cx="6129866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IL" sz="2000" b="1" dirty="0">
                <a:latin typeface="David" panose="020E0502060401010101" pitchFamily="34" charset="-79"/>
                <a:cs typeface="David" panose="020E0502060401010101" pitchFamily="34" charset="-79"/>
              </a:rPr>
              <a:t>Data preparation: </a:t>
            </a:r>
          </a:p>
          <a:p>
            <a:pPr marL="0" algn="l" defTabSz="914400" rtl="0" eaLnBrk="1" latinLnBrk="0" hangingPunct="1"/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W</a:t>
            </a:r>
            <a:r>
              <a:rPr lang="en-IL" sz="2000" dirty="0">
                <a:latin typeface="David" panose="020E0502060401010101" pitchFamily="34" charset="-79"/>
                <a:cs typeface="David" panose="020E0502060401010101" pitchFamily="34" charset="-79"/>
              </a:rPr>
              <a:t>e created the dataset using the following steps:</a:t>
            </a:r>
          </a:p>
          <a:p>
            <a:pPr marL="342900" indent="-342900" algn="l" rtl="0">
              <a:buFont typeface="+mj-lt"/>
              <a:buAutoNum type="arabicPeriod"/>
            </a:pPr>
            <a:r>
              <a:rPr lang="en-US" sz="2000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creating a Task Bank from the AMI  dataset</a:t>
            </a:r>
          </a:p>
          <a:p>
            <a:pPr marL="342900" indent="-342900" algn="l" rtl="0"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translating the Task bank to “</a:t>
            </a:r>
            <a:r>
              <a:rPr lang="en-US" sz="20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Hibrish</a:t>
            </a:r>
            <a:r>
              <a:rPr lang="en-US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” 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using </a:t>
            </a:r>
            <a:r>
              <a:rPr lang="en-US" sz="2000" b="0" i="0" u="none" strike="noStrike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gpt-3.5-turbo</a:t>
            </a:r>
            <a:endParaRPr lang="en-US" sz="2000" dirty="0">
              <a:solidFill>
                <a:srgbClr val="00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342900" indent="-342900" algn="l" rtl="0">
              <a:buFont typeface="+mj-lt"/>
              <a:buAutoNum type="arabicPeriod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Generating synthetic Israeli high-tech meetings using the tasks from the Task bank using  </a:t>
            </a:r>
            <a:r>
              <a:rPr lang="en-US" sz="2000" b="0" i="0" u="none" strike="noStrike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gpt-4o</a:t>
            </a:r>
          </a:p>
          <a:p>
            <a:pPr marL="342900" indent="-342900" algn="l" rtl="0">
              <a:buFont typeface="+mj-lt"/>
              <a:buAutoNum type="arabicPeriod"/>
            </a:pPr>
            <a:endParaRPr lang="en-US" dirty="0">
              <a:solidFill>
                <a:srgbClr val="00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en-US" sz="1800" i="0" u="none" strike="noStrike" dirty="0">
              <a:solidFill>
                <a:srgbClr val="000000"/>
              </a:solidFill>
              <a:effectLst/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en-US" sz="18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algn="l" defTabSz="914400" rtl="0" eaLnBrk="1" latinLnBrk="0" hangingPunct="1"/>
            <a:endParaRPr lang="en-IL" dirty="0"/>
          </a:p>
          <a:p>
            <a:pPr marL="0" algn="l" defTabSz="914400" rtl="0" eaLnBrk="1" latinLnBrk="0" hangingPunct="1"/>
            <a:endParaRPr lang="en-I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C39B1D-28D4-64FE-0CB2-13A5CE8FBB23}"/>
              </a:ext>
            </a:extLst>
          </p:cNvPr>
          <p:cNvSpPr txBox="1"/>
          <p:nvPr/>
        </p:nvSpPr>
        <p:spPr>
          <a:xfrm>
            <a:off x="4895921" y="4520912"/>
            <a:ext cx="6523088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sz="2000" b="1" dirty="0">
                <a:latin typeface="David" panose="020E0502060401010101" pitchFamily="34" charset="-79"/>
                <a:cs typeface="David" panose="020E0502060401010101" pitchFamily="34" charset="-79"/>
              </a:rPr>
              <a:t>T</a:t>
            </a:r>
            <a:r>
              <a:rPr lang="en-IL" sz="2000" b="1" dirty="0">
                <a:latin typeface="David" panose="020E0502060401010101" pitchFamily="34" charset="-79"/>
                <a:cs typeface="David" panose="020E0502060401010101" pitchFamily="34" charset="-79"/>
              </a:rPr>
              <a:t>he result:</a:t>
            </a:r>
          </a:p>
          <a:p>
            <a:pPr algn="l" rtl="0"/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A</a:t>
            </a:r>
            <a:r>
              <a:rPr lang="en-IL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synthetic dataset containing 230 high-tech meeting with : </a:t>
            </a:r>
            <a:r>
              <a:rPr lang="en-US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15–50 lines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and 1-4 tasks and </a:t>
            </a:r>
            <a:r>
              <a:rPr lang="en-US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High presence of temporal expressions for deadlines (e.g., "End of the week," "By the 15th")</a:t>
            </a:r>
            <a:endParaRPr lang="he-IL" sz="20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algn="l" defTabSz="914400" rtl="0" eaLnBrk="1" latinLnBrk="0" hangingPunct="1"/>
            <a:endParaRPr lang="en-US" sz="1800" b="0" i="0" u="none" strike="noStrike" dirty="0">
              <a:solidFill>
                <a:srgbClr val="000000"/>
              </a:solidFill>
              <a:effectLst/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algn="l" defTabSz="914400" rtl="0" eaLnBrk="1" latinLnBrk="0" hangingPunct="1"/>
            <a:endParaRPr lang="en-IL" dirty="0"/>
          </a:p>
        </p:txBody>
      </p:sp>
      <p:sp>
        <p:nvSpPr>
          <p:cNvPr id="13" name="כותרת 1">
            <a:extLst>
              <a:ext uri="{FF2B5EF4-FFF2-40B4-BE49-F238E27FC236}">
                <a16:creationId xmlns:a16="http://schemas.microsoft.com/office/drawing/2014/main" id="{A7D8AA7D-90C4-4328-D417-C0DF130CFDCF}"/>
              </a:ext>
            </a:extLst>
          </p:cNvPr>
          <p:cNvSpPr txBox="1">
            <a:spLocks/>
          </p:cNvSpPr>
          <p:nvPr/>
        </p:nvSpPr>
        <p:spPr>
          <a:xfrm>
            <a:off x="433283" y="1261370"/>
            <a:ext cx="3410712" cy="16642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David" panose="020E0502060401010101" pitchFamily="34" charset="-79"/>
                <a:cs typeface="David" panose="020E0502060401010101" pitchFamily="34" charset="-79"/>
              </a:rPr>
              <a:t>methodology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14" name="גרפיקה 13" descr="מחידה">
            <a:extLst>
              <a:ext uri="{FF2B5EF4-FFF2-40B4-BE49-F238E27FC236}">
                <a16:creationId xmlns:a16="http://schemas.microsoft.com/office/drawing/2014/main" id="{00B77D3A-AE78-D633-1A87-B203DF1866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0235" y="2391522"/>
            <a:ext cx="2965212" cy="296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151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רשת של נקודות מחוברות">
            <a:extLst>
              <a:ext uri="{FF2B5EF4-FFF2-40B4-BE49-F238E27FC236}">
                <a16:creationId xmlns:a16="http://schemas.microsoft.com/office/drawing/2014/main" id="{B8B76A0E-C496-7BF5-4882-F851AEB0B2B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7000"/>
          </a:blip>
          <a:srcRect l="20013" r="452" b="1"/>
          <a:stretch>
            <a:fillRect/>
          </a:stretch>
        </p:blipFill>
        <p:spPr>
          <a:xfrm>
            <a:off x="0" y="10"/>
            <a:ext cx="12188932" cy="6857990"/>
          </a:xfrm>
          <a:prstGeom prst="rect">
            <a:avLst/>
          </a:prstGeom>
        </p:spPr>
      </p:pic>
      <p:pic>
        <p:nvPicPr>
          <p:cNvPr id="9" name="תמונה 8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3EE8DD3-1DE1-8D9B-B032-7F0F2EDD3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852" y="1843751"/>
            <a:ext cx="7144747" cy="3715268"/>
          </a:xfrm>
          <a:prstGeom prst="rect">
            <a:avLst/>
          </a:prstGeom>
        </p:spPr>
      </p:pic>
      <p:pic>
        <p:nvPicPr>
          <p:cNvPr id="11" name="תמונה 10" descr="תמונה שמכילה טקסט, צילום מסך, גופן, מסמ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9BBE1E5-CFE9-DA83-AE96-618B7F7E60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0797" y="978408"/>
            <a:ext cx="4102937" cy="4636456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E3C57765-4276-2DB5-08C6-44293D6CB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 Data Example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62F10C-52DB-90C3-E6B3-1AC41B5382C5}"/>
              </a:ext>
            </a:extLst>
          </p:cNvPr>
          <p:cNvSpPr txBox="1"/>
          <p:nvPr/>
        </p:nvSpPr>
        <p:spPr>
          <a:xfrm>
            <a:off x="1849746" y="6023843"/>
            <a:ext cx="8489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b="1" dirty="0">
                <a:latin typeface="David" panose="020E0502060401010101" pitchFamily="34" charset="-79"/>
                <a:cs typeface="David" panose="020E0502060401010101" pitchFamily="34" charset="-79"/>
              </a:rPr>
              <a:t>T</a:t>
            </a:r>
            <a:r>
              <a:rPr lang="en-IL" b="1" dirty="0">
                <a:latin typeface="David" panose="020E0502060401010101" pitchFamily="34" charset="-79"/>
                <a:cs typeface="David" panose="020E0502060401010101" pitchFamily="34" charset="-79"/>
              </a:rPr>
              <a:t>he order of the tasks in the JSON files is the same o</a:t>
            </a:r>
            <a:r>
              <a:rPr lang="en-US" b="1" dirty="0">
                <a:latin typeface="David" panose="020E0502060401010101" pitchFamily="34" charset="-79"/>
                <a:cs typeface="David" panose="020E0502060401010101" pitchFamily="34" charset="-79"/>
              </a:rPr>
              <a:t>r</a:t>
            </a:r>
            <a:r>
              <a:rPr lang="en-IL" b="1" dirty="0">
                <a:latin typeface="David" panose="020E0502060401010101" pitchFamily="34" charset="-79"/>
                <a:cs typeface="David" panose="020E0502060401010101" pitchFamily="34" charset="-79"/>
              </a:rPr>
              <a:t>der of the tasks in the meetings</a:t>
            </a:r>
          </a:p>
        </p:txBody>
      </p:sp>
    </p:spTree>
    <p:extLst>
      <p:ext uri="{BB962C8B-B14F-4D97-AF65-F5344CB8AC3E}">
        <p14:creationId xmlns:p14="http://schemas.microsoft.com/office/powerpoint/2010/main" val="3824383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F1EA2-7C96-CD80-4059-79E10942A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ABC700E-B73E-6CDF-5AD5-D2EAA9A572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רשת של נקודות מחוברות">
            <a:extLst>
              <a:ext uri="{FF2B5EF4-FFF2-40B4-BE49-F238E27FC236}">
                <a16:creationId xmlns:a16="http://schemas.microsoft.com/office/drawing/2014/main" id="{22257958-5CB9-6DDD-F3BA-245CFB5BAC1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7000"/>
          </a:blip>
          <a:srcRect l="20013" r="452" b="1"/>
          <a:stretch>
            <a:fillRect/>
          </a:stretch>
        </p:blipFill>
        <p:spPr>
          <a:xfrm>
            <a:off x="3068" y="233177"/>
            <a:ext cx="12188932" cy="685799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1D3F31DF-FF29-4397-C571-28F42E2BB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283" y="1261370"/>
            <a:ext cx="3410712" cy="1664208"/>
          </a:xfrm>
        </p:spPr>
        <p:txBody>
          <a:bodyPr>
            <a:normAutofit/>
          </a:bodyPr>
          <a:lstStyle/>
          <a:p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methodology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E44840-E7CB-ADB6-3A1B-B6A7244723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D8B760-99B7-9ED5-FB00-7AE4069CC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תמונה 7" descr="תמונה שמכילה טקסט, קו, עלילה, תרשי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F356FBA-17E1-2C43-6313-79A2D50EDF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31" y="3428997"/>
            <a:ext cx="5618270" cy="3370962"/>
          </a:xfrm>
          <a:prstGeom prst="rect">
            <a:avLst/>
          </a:prstGeom>
        </p:spPr>
      </p:pic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8726D4B-63D4-CE0F-0C70-E1B9C0BF8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4325" y="1073419"/>
            <a:ext cx="7854392" cy="53675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4400" dirty="0"/>
              <a:t> </a:t>
            </a:r>
            <a:r>
              <a:rPr lang="en-US" sz="2600" b="1" dirty="0">
                <a:latin typeface="David" panose="020E0502060401010101" pitchFamily="34" charset="-79"/>
                <a:cs typeface="David" panose="020E0502060401010101" pitchFamily="34" charset="-79"/>
              </a:rPr>
              <a:t>Training</a:t>
            </a: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>
              <a:lnSpc>
                <a:spcPct val="100000"/>
              </a:lnSpc>
            </a:pPr>
            <a: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  <a:t>Model &amp; Training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latin typeface="David" panose="020E0502060401010101" pitchFamily="34" charset="-79"/>
                <a:cs typeface="David" panose="020E0502060401010101" pitchFamily="34" charset="-79"/>
              </a:rPr>
              <a:t>Base: llama-3-8b-bnb-4bit (Quantized).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latin typeface="David" panose="020E0502060401010101" pitchFamily="34" charset="-79"/>
                <a:cs typeface="David" panose="020E0502060401010101" pitchFamily="34" charset="-79"/>
              </a:rPr>
              <a:t>Technique: </a:t>
            </a:r>
            <a:r>
              <a:rPr lang="en-US" sz="2200" dirty="0" err="1">
                <a:latin typeface="David" panose="020E0502060401010101" pitchFamily="34" charset="-79"/>
                <a:cs typeface="David" panose="020E0502060401010101" pitchFamily="34" charset="-79"/>
              </a:rPr>
              <a:t>LoRA</a:t>
            </a:r>
            <a:r>
              <a:rPr lang="en-US" sz="2200" dirty="0">
                <a:latin typeface="David" panose="020E0502060401010101" pitchFamily="34" charset="-79"/>
                <a:cs typeface="David" panose="020E0502060401010101" pitchFamily="34" charset="-79"/>
              </a:rPr>
              <a:t>, dropout, learning rate, "Train-as-you-test" prompt strategy.</a:t>
            </a:r>
          </a:p>
        </p:txBody>
      </p:sp>
    </p:spTree>
    <p:extLst>
      <p:ext uri="{BB962C8B-B14F-4D97-AF65-F5344CB8AC3E}">
        <p14:creationId xmlns:p14="http://schemas.microsoft.com/office/powerpoint/2010/main" val="632581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A6782-6D78-9711-099B-C21B997D0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E5C87FB-61F3-5F9C-8EEF-8AC14A953D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רשת של נקודות מחוברות">
            <a:extLst>
              <a:ext uri="{FF2B5EF4-FFF2-40B4-BE49-F238E27FC236}">
                <a16:creationId xmlns:a16="http://schemas.microsoft.com/office/drawing/2014/main" id="{E74C7FD1-0BBE-D446-F2D1-898A7E36117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7000"/>
          </a:blip>
          <a:srcRect l="20013" r="452" b="1"/>
          <a:stretch>
            <a:fillRect/>
          </a:stretch>
        </p:blipFill>
        <p:spPr>
          <a:xfrm>
            <a:off x="3068" y="233177"/>
            <a:ext cx="12188932" cy="685799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99975C0F-555C-DC95-DD1F-288397693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283" y="1261370"/>
            <a:ext cx="3410712" cy="1664208"/>
          </a:xfrm>
        </p:spPr>
        <p:txBody>
          <a:bodyPr>
            <a:normAutofit/>
          </a:bodyPr>
          <a:lstStyle/>
          <a:p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methodology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E927CF-295A-34FF-8829-349A6D288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98068B-22C3-D549-6361-09519092E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95916BE-2A6D-6609-3221-5B26347B9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4326" y="1073419"/>
            <a:ext cx="7854392" cy="53675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4400" dirty="0"/>
              <a:t> </a:t>
            </a:r>
            <a:r>
              <a:rPr lang="en-US" sz="2600" b="1" dirty="0">
                <a:latin typeface="David" panose="020E0502060401010101" pitchFamily="34" charset="-79"/>
                <a:cs typeface="David" panose="020E0502060401010101" pitchFamily="34" charset="-79"/>
              </a:rPr>
              <a:t>Evaluation</a:t>
            </a:r>
          </a:p>
          <a:p>
            <a:pPr>
              <a:lnSpc>
                <a:spcPct val="100000"/>
              </a:lnSpc>
            </a:pPr>
            <a: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  <a:t>Evaluation Metrics (The Challenge):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latin typeface="David" panose="020E0502060401010101" pitchFamily="34" charset="-79"/>
                <a:cs typeface="David" panose="020E0502060401010101" pitchFamily="34" charset="-79"/>
              </a:rPr>
              <a:t>Since the order of items matter, we used Hungarian Algo to match predicted tasks to ground truth, temperature for determinism</a:t>
            </a:r>
          </a:p>
          <a:p>
            <a:pPr lvl="1">
              <a:lnSpc>
                <a:spcPct val="100000"/>
              </a:lnSpc>
            </a:pPr>
            <a:endParaRPr lang="en-US" sz="22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lvl="1">
              <a:lnSpc>
                <a:spcPct val="100000"/>
              </a:lnSpc>
            </a:pPr>
            <a:r>
              <a:rPr lang="en-US" sz="2200" b="1" dirty="0">
                <a:latin typeface="David" panose="020E0502060401010101" pitchFamily="34" charset="-79"/>
                <a:cs typeface="David" panose="020E0502060401010101" pitchFamily="34" charset="-79"/>
              </a:rPr>
              <a:t>Assignee: </a:t>
            </a:r>
            <a:r>
              <a:rPr lang="en-US" sz="2200" dirty="0">
                <a:latin typeface="David" panose="020E0502060401010101" pitchFamily="34" charset="-79"/>
                <a:cs typeface="David" panose="020E0502060401010101" pitchFamily="34" charset="-79"/>
              </a:rPr>
              <a:t>Fuzzy Matching (Ratio &gt; 80).</a:t>
            </a:r>
          </a:p>
          <a:p>
            <a:pPr lvl="1">
              <a:lnSpc>
                <a:spcPct val="100000"/>
              </a:lnSpc>
            </a:pPr>
            <a:endParaRPr lang="en-US" sz="22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lvl="1">
              <a:lnSpc>
                <a:spcPct val="100000"/>
              </a:lnSpc>
            </a:pPr>
            <a:r>
              <a:rPr lang="en-US" sz="2200" b="1" dirty="0">
                <a:latin typeface="David" panose="020E0502060401010101" pitchFamily="34" charset="-79"/>
                <a:cs typeface="David" panose="020E0502060401010101" pitchFamily="34" charset="-79"/>
              </a:rPr>
              <a:t>Action:</a:t>
            </a:r>
            <a:r>
              <a:rPr lang="en-US" sz="2200" dirty="0">
                <a:latin typeface="David" panose="020E0502060401010101" pitchFamily="34" charset="-79"/>
                <a:cs typeface="David" panose="020E0502060401010101" pitchFamily="34" charset="-79"/>
              </a:rPr>
              <a:t> Semantic Similarity using </a:t>
            </a:r>
            <a:r>
              <a:rPr lang="en-US" sz="2200" dirty="0" err="1">
                <a:latin typeface="David" panose="020E0502060401010101" pitchFamily="34" charset="-79"/>
                <a:cs typeface="David" panose="020E0502060401010101" pitchFamily="34" charset="-79"/>
              </a:rPr>
              <a:t>AlephBERT</a:t>
            </a:r>
            <a:r>
              <a:rPr lang="en-US" sz="2200" dirty="0">
                <a:latin typeface="David" panose="020E0502060401010101" pitchFamily="34" charset="-79"/>
                <a:cs typeface="David" panose="020E0502060401010101" pitchFamily="34" charset="-79"/>
              </a:rPr>
              <a:t> embeddings.</a:t>
            </a:r>
            <a:br>
              <a:rPr lang="en-US" sz="22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endParaRPr lang="en-US" sz="22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lvl="1">
              <a:lnSpc>
                <a:spcPct val="100000"/>
              </a:lnSpc>
            </a:pPr>
            <a:r>
              <a:rPr lang="en-US" sz="2200" b="1" dirty="0">
                <a:latin typeface="David" panose="020E0502060401010101" pitchFamily="34" charset="-79"/>
                <a:cs typeface="David" panose="020E0502060401010101" pitchFamily="34" charset="-79"/>
              </a:rPr>
              <a:t>Deadline:</a:t>
            </a:r>
            <a:r>
              <a:rPr lang="en-US" sz="2200" dirty="0">
                <a:latin typeface="David" panose="020E0502060401010101" pitchFamily="34" charset="-79"/>
                <a:cs typeface="David" panose="020E0502060401010101" pitchFamily="34" charset="-79"/>
              </a:rPr>
              <a:t> Soft string matching (Ratio &gt; 85).</a:t>
            </a:r>
          </a:p>
        </p:txBody>
      </p:sp>
      <p:pic>
        <p:nvPicPr>
          <p:cNvPr id="5" name="גרפיקה 4" descr="מחידה">
            <a:extLst>
              <a:ext uri="{FF2B5EF4-FFF2-40B4-BE49-F238E27FC236}">
                <a16:creationId xmlns:a16="http://schemas.microsoft.com/office/drawing/2014/main" id="{DC6670A8-56E1-D5F3-5F92-96A941B3D7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091" y="2471165"/>
            <a:ext cx="2965212" cy="2965212"/>
          </a:xfrm>
          <a:prstGeom prst="rect">
            <a:avLst/>
          </a:prstGeom>
        </p:spPr>
      </p:pic>
      <p:pic>
        <p:nvPicPr>
          <p:cNvPr id="7" name="תמונה 6" descr="תמונה שמכילה גופן, טקסט, לבן, קו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A8F2865-D333-E9F9-9DA4-569BCA46D3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694" y="5597330"/>
            <a:ext cx="3229426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331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387D0-4988-6BAF-8358-6FC716498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0101E7D-652C-C857-CAFC-C80BB24C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רשת של נקודות מחוברות">
            <a:extLst>
              <a:ext uri="{FF2B5EF4-FFF2-40B4-BE49-F238E27FC236}">
                <a16:creationId xmlns:a16="http://schemas.microsoft.com/office/drawing/2014/main" id="{8BF5B7AE-ACB6-70EB-F18D-4183C32E457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7000"/>
          </a:blip>
          <a:srcRect l="20013" r="452" b="1"/>
          <a:stretch>
            <a:fillRect/>
          </a:stretch>
        </p:blipFill>
        <p:spPr>
          <a:xfrm>
            <a:off x="3068" y="10"/>
            <a:ext cx="12188932" cy="685799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07E1DCC9-437A-B602-2E08-3C4931D8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94" y="1306858"/>
            <a:ext cx="4209056" cy="1664208"/>
          </a:xfrm>
        </p:spPr>
        <p:txBody>
          <a:bodyPr>
            <a:normAutofit/>
          </a:bodyPr>
          <a:lstStyle/>
          <a:p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Results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624DD1-EBEF-2A31-3679-3F15F33E0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E9F6DF-DE96-E270-2C5B-E9348C8C4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85AE609-D434-E2EF-F5D3-369F79E8B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523" y="978408"/>
            <a:ext cx="9077427" cy="53675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3400" b="1" dirty="0">
                <a:latin typeface="David" panose="020E0502060401010101" pitchFamily="34" charset="-79"/>
                <a:cs typeface="David" panose="020E0502060401010101" pitchFamily="34" charset="-79"/>
              </a:rPr>
              <a:t>Results: dramatic Improvement over Baseline</a:t>
            </a:r>
          </a:p>
          <a:p>
            <a:pPr>
              <a:buNone/>
            </a:pPr>
            <a: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  <a:t>Quantitative Results:</a:t>
            </a: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  <a:t>Baseline (Zero-Shot):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FAILED (~1% Accuracy). Output was unstructured text/English.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  <a:t>Baseline (One-Shot):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~11.5%. Improved structure but struggled with Hebrew content.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  <a:t>Fine-Tuned:</a:t>
            </a: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David" panose="020E0502060401010101" pitchFamily="34" charset="-79"/>
                <a:cs typeface="David" panose="020E0502060401010101" pitchFamily="34" charset="-79"/>
              </a:rPr>
              <a:t>Assignee: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b="1" dirty="0">
                <a:latin typeface="David" panose="020E0502060401010101" pitchFamily="34" charset="-79"/>
                <a:cs typeface="David" panose="020E0502060401010101" pitchFamily="34" charset="-79"/>
              </a:rPr>
              <a:t>56.7%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(High precision in entity extraction).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David" panose="020E0502060401010101" pitchFamily="34" charset="-79"/>
                <a:cs typeface="David" panose="020E0502060401010101" pitchFamily="34" charset="-79"/>
              </a:rPr>
              <a:t>Action: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b="1" dirty="0">
                <a:latin typeface="David" panose="020E0502060401010101" pitchFamily="34" charset="-79"/>
                <a:cs typeface="David" panose="020E0502060401010101" pitchFamily="34" charset="-79"/>
              </a:rPr>
              <a:t>59.3%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(Strong semantic understanding).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David" panose="020E0502060401010101" pitchFamily="34" charset="-79"/>
                <a:cs typeface="David" panose="020E0502060401010101" pitchFamily="34" charset="-79"/>
              </a:rPr>
              <a:t>Deadline: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b="1" dirty="0">
                <a:latin typeface="David" panose="020E0502060401010101" pitchFamily="34" charset="-79"/>
                <a:cs typeface="David" panose="020E0502060401010101" pitchFamily="34" charset="-79"/>
              </a:rPr>
              <a:t>35.1%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(Challenging due to relative dates like "next week").</a:t>
            </a:r>
          </a:p>
        </p:txBody>
      </p:sp>
      <p:pic>
        <p:nvPicPr>
          <p:cNvPr id="6" name="גרפיקה 5" descr="סרט פרס">
            <a:extLst>
              <a:ext uri="{FF2B5EF4-FFF2-40B4-BE49-F238E27FC236}">
                <a16:creationId xmlns:a16="http://schemas.microsoft.com/office/drawing/2014/main" id="{93219D32-11F0-B3BC-0F38-5B39F642B5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4071" y="2635685"/>
            <a:ext cx="2814875" cy="28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172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3AD76-4B48-8C07-054F-65F0EDEE6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F18D66C-B9E8-C8FC-6FF7-AD44C7137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רשת של נקודות מחוברות">
            <a:extLst>
              <a:ext uri="{FF2B5EF4-FFF2-40B4-BE49-F238E27FC236}">
                <a16:creationId xmlns:a16="http://schemas.microsoft.com/office/drawing/2014/main" id="{691C066F-9F83-DB41-39C4-3B18E04406A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7000"/>
          </a:blip>
          <a:srcRect l="20013" r="452" b="1"/>
          <a:stretch>
            <a:fillRect/>
          </a:stretch>
        </p:blipFill>
        <p:spPr>
          <a:xfrm>
            <a:off x="3068" y="10"/>
            <a:ext cx="12188932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002FF85-C021-7EE5-23B8-89CEED827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BBA5AD-18A3-3350-CF57-D820676E9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תמונה 5" descr="תמונה שמכילה טקסט, צילום מסך, תרשים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69AEFD0-4E0C-1099-AB47-41AFC4F1FE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105" y="1371579"/>
            <a:ext cx="9144018" cy="5486411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094CB89E-41D8-551D-2845-08C744AD0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105" y="979975"/>
            <a:ext cx="2291077" cy="783199"/>
          </a:xfrm>
        </p:spPr>
        <p:txBody>
          <a:bodyPr>
            <a:normAutofit/>
          </a:bodyPr>
          <a:lstStyle/>
          <a:p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Results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39248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9AF7D-F789-0B35-61AC-AF238D08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341CBA1-CF2D-3A88-AFF0-EF27BB742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0F9F47-ED08-62C7-9004-7010876C6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036D8B-D04C-E356-8BA6-E6659FBFE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רשת של נקודות מחוברות">
            <a:extLst>
              <a:ext uri="{FF2B5EF4-FFF2-40B4-BE49-F238E27FC236}">
                <a16:creationId xmlns:a16="http://schemas.microsoft.com/office/drawing/2014/main" id="{B67B6D12-0715-B74E-24A2-27F174812C0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7000"/>
          </a:blip>
          <a:srcRect l="20013" r="452" b="1"/>
          <a:stretch>
            <a:fillRect/>
          </a:stretch>
        </p:blipFill>
        <p:spPr>
          <a:xfrm>
            <a:off x="3068" y="10"/>
            <a:ext cx="12188932" cy="6857990"/>
          </a:xfrm>
          <a:prstGeom prst="rect">
            <a:avLst/>
          </a:prstGeom>
        </p:spPr>
      </p:pic>
      <p:pic>
        <p:nvPicPr>
          <p:cNvPr id="22" name="תמונה 21" descr="תמונה שמכילה טקסט, צילום מסך, מספר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C033F4D-5A1D-94CF-23ED-4C39194BA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9593" y="136456"/>
            <a:ext cx="9225962" cy="636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321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F4D54-37E7-8465-4976-BA997F37D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07D0EDE-4271-C2C0-2EA3-0DA930D26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רשת של נקודות מחוברות">
            <a:extLst>
              <a:ext uri="{FF2B5EF4-FFF2-40B4-BE49-F238E27FC236}">
                <a16:creationId xmlns:a16="http://schemas.microsoft.com/office/drawing/2014/main" id="{77E78957-E8CC-D5C6-8AA9-B2727098CB0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7000"/>
          </a:blip>
          <a:srcRect l="20013" r="452" b="1"/>
          <a:stretch>
            <a:fillRect/>
          </a:stretch>
        </p:blipFill>
        <p:spPr>
          <a:xfrm>
            <a:off x="3068" y="10"/>
            <a:ext cx="12188932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8E48A89-37CD-ED46-FD98-0427D60C0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824BAD-29FB-960B-B92A-9729490EB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טבלה 13">
            <a:extLst>
              <a:ext uri="{FF2B5EF4-FFF2-40B4-BE49-F238E27FC236}">
                <a16:creationId xmlns:a16="http://schemas.microsoft.com/office/drawing/2014/main" id="{1ADA77F6-1836-3FC3-1425-5A0CDE6D1A01}"/>
              </a:ext>
            </a:extLst>
          </p:cNvPr>
          <p:cNvGraphicFramePr>
            <a:graphicFrameLocks noGrp="1"/>
          </p:cNvGraphicFramePr>
          <p:nvPr/>
        </p:nvGraphicFramePr>
        <p:xfrm>
          <a:off x="304637" y="174495"/>
          <a:ext cx="11483829" cy="6501608"/>
        </p:xfrm>
        <a:graphic>
          <a:graphicData uri="http://schemas.openxmlformats.org/drawingml/2006/table">
            <a:tbl>
              <a:tblPr rtl="1" lastCol="1" bandRow="1" bandCol="1">
                <a:tableStyleId>{21E4AEA4-8DFA-4A89-87EB-49C32662AFE0}</a:tableStyleId>
              </a:tblPr>
              <a:tblGrid>
                <a:gridCol w="9429293">
                  <a:extLst>
                    <a:ext uri="{9D8B030D-6E8A-4147-A177-3AD203B41FA5}">
                      <a16:colId xmlns:a16="http://schemas.microsoft.com/office/drawing/2014/main" val="667395787"/>
                    </a:ext>
                  </a:extLst>
                </a:gridCol>
                <a:gridCol w="2054536">
                  <a:extLst>
                    <a:ext uri="{9D8B030D-6E8A-4147-A177-3AD203B41FA5}">
                      <a16:colId xmlns:a16="http://schemas.microsoft.com/office/drawing/2014/main" val="1719502802"/>
                    </a:ext>
                  </a:extLst>
                </a:gridCol>
              </a:tblGrid>
              <a:tr h="1625402">
                <a:tc>
                  <a:txBody>
                    <a:bodyPr/>
                    <a:lstStyle/>
                    <a:p>
                      <a:pPr rtl="1"/>
                      <a:endParaRPr lang="he-IL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Expected</a:t>
                      </a:r>
                      <a:endParaRPr lang="he-IL" sz="1800" b="1" kern="1200" dirty="0">
                        <a:solidFill>
                          <a:schemeClr val="lt1"/>
                        </a:solidFill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  <a:p>
                      <a:pPr algn="ctr" rtl="1"/>
                      <a:endParaRPr lang="he-IL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2057472"/>
                  </a:ext>
                </a:extLst>
              </a:tr>
              <a:tr h="1625402">
                <a:tc>
                  <a:txBody>
                    <a:bodyPr/>
                    <a:lstStyle/>
                    <a:p>
                      <a:pPr rtl="1"/>
                      <a:endParaRPr lang="he-IL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Baseline zero-shot</a:t>
                      </a:r>
                      <a:endParaRPr lang="he-IL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9331449"/>
                  </a:ext>
                </a:extLst>
              </a:tr>
              <a:tr h="1625402">
                <a:tc>
                  <a:txBody>
                    <a:bodyPr/>
                    <a:lstStyle/>
                    <a:p>
                      <a:pPr rtl="1"/>
                      <a:endParaRPr lang="he-IL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Baseline one-shot</a:t>
                      </a:r>
                      <a:endParaRPr lang="he-IL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  <a:p>
                      <a:pPr algn="ctr" rtl="1"/>
                      <a:endParaRPr lang="he-IL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5973495"/>
                  </a:ext>
                </a:extLst>
              </a:tr>
              <a:tr h="1625402">
                <a:tc>
                  <a:txBody>
                    <a:bodyPr/>
                    <a:lstStyle/>
                    <a:p>
                      <a:pPr rtl="1"/>
                      <a:endParaRPr lang="he-IL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After Fine-tuning</a:t>
                      </a:r>
                      <a:endParaRPr lang="he-IL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  <a:p>
                      <a:pPr algn="ctr" rtl="1"/>
                      <a:endParaRPr lang="he-IL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5147194"/>
                  </a:ext>
                </a:extLst>
              </a:tr>
            </a:tbl>
          </a:graphicData>
        </a:graphic>
      </p:graphicFrame>
      <p:pic>
        <p:nvPicPr>
          <p:cNvPr id="6" name="תמונה 5">
            <a:extLst>
              <a:ext uri="{FF2B5EF4-FFF2-40B4-BE49-F238E27FC236}">
                <a16:creationId xmlns:a16="http://schemas.microsoft.com/office/drawing/2014/main" id="{650B37B2-AE3A-0CB4-5DA5-762F04499D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5573" y="876965"/>
            <a:ext cx="8840637" cy="166913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EFD3A47C-71EE-05A3-19CA-9EB58A1CCD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5572" y="5629196"/>
            <a:ext cx="8840638" cy="243574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9A2D0419-DF8C-C63B-3DD7-A271463B98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5572" y="3905454"/>
            <a:ext cx="8840637" cy="563830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0B8E5886-C204-FF45-8E36-2548DC0915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5572" y="2566210"/>
            <a:ext cx="8840637" cy="26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852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C412C-D03B-B0B6-1BCB-EBFB648AF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9D9F8AB-EC48-FC50-E6A7-FACB7A572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רשת של נקודות מחוברות">
            <a:extLst>
              <a:ext uri="{FF2B5EF4-FFF2-40B4-BE49-F238E27FC236}">
                <a16:creationId xmlns:a16="http://schemas.microsoft.com/office/drawing/2014/main" id="{D7089AB1-530D-68C8-63ED-96BBE15F4D0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7000"/>
          </a:blip>
          <a:srcRect l="20013" r="452" b="1"/>
          <a:stretch>
            <a:fillRect/>
          </a:stretch>
        </p:blipFill>
        <p:spPr>
          <a:xfrm>
            <a:off x="3068" y="10"/>
            <a:ext cx="12188932" cy="685799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459750CA-B300-109A-BADD-F9BB445D6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173" y="869334"/>
            <a:ext cx="4209056" cy="1664208"/>
          </a:xfrm>
        </p:spPr>
        <p:txBody>
          <a:bodyPr>
            <a:normAutofit/>
          </a:bodyPr>
          <a:lstStyle/>
          <a:p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Conclusion &amp; Future Work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EE4D1B-768C-135A-98C1-CFE36B4F2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791AB0-C442-B65A-CD0F-0E26DB364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033F4B2-D28F-0AA1-14DC-67F3C07BD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2333" y="1283209"/>
            <a:ext cx="6835411" cy="5367528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2800" b="1" dirty="0">
                <a:latin typeface="David" panose="020E0502060401010101" pitchFamily="34" charset="-79"/>
                <a:cs typeface="David" panose="020E0502060401010101" pitchFamily="34" charset="-79"/>
              </a:rPr>
              <a:t>Did we achieve the goal?</a:t>
            </a:r>
            <a:endParaRPr lang="en-US" sz="28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lvl="1"/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Yes. We transformed a model that couldn't handle the task into a reliable extractor for Hebrew action items.</a:t>
            </a:r>
          </a:p>
          <a:p>
            <a:pPr>
              <a:buNone/>
            </a:pPr>
            <a:r>
              <a:rPr lang="en-US" sz="2800" b="1" dirty="0">
                <a:latin typeface="David" panose="020E0502060401010101" pitchFamily="34" charset="-79"/>
                <a:cs typeface="David" panose="020E0502060401010101" pitchFamily="34" charset="-79"/>
              </a:rPr>
              <a:t>Lessons Learned:</a:t>
            </a:r>
            <a:endParaRPr lang="en-US" sz="28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lvl="1"/>
            <a:r>
              <a:rPr lang="en-US" sz="2600" b="1" dirty="0">
                <a:latin typeface="David" panose="020E0502060401010101" pitchFamily="34" charset="-79"/>
                <a:cs typeface="David" panose="020E0502060401010101" pitchFamily="34" charset="-79"/>
              </a:rPr>
              <a:t>"Train as you test":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Consistency between training prompts and inference prompts is critical.</a:t>
            </a:r>
          </a:p>
          <a:p>
            <a:pPr lvl="1"/>
            <a:r>
              <a:rPr lang="en-US" sz="2600" b="1" dirty="0">
                <a:latin typeface="David" panose="020E0502060401010101" pitchFamily="34" charset="-79"/>
                <a:cs typeface="David" panose="020E0502060401010101" pitchFamily="34" charset="-79"/>
              </a:rPr>
              <a:t>Metric Design: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Evaluating generative lists requires semantic matching algorithms, not just string comparison.</a:t>
            </a:r>
          </a:p>
          <a:p>
            <a:r>
              <a:rPr lang="en-US" sz="2800" b="1" dirty="0">
                <a:latin typeface="David" panose="020E0502060401010101" pitchFamily="34" charset="-79"/>
                <a:cs typeface="David" panose="020E0502060401010101" pitchFamily="34" charset="-79"/>
              </a:rPr>
              <a:t>Future Work:</a:t>
            </a:r>
            <a:endParaRPr lang="en-US" sz="28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lvl="1"/>
            <a:r>
              <a:rPr lang="en-US" sz="2600" b="1" dirty="0">
                <a:latin typeface="David" panose="020E0502060401010101" pitchFamily="34" charset="-79"/>
                <a:cs typeface="David" panose="020E0502060401010101" pitchFamily="34" charset="-79"/>
              </a:rPr>
              <a:t>Dataset Expansion: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230 samples is small. Increasing to 1000+ would likely solve the Deadline accuracy issues.</a:t>
            </a:r>
          </a:p>
          <a:p>
            <a:pPr lvl="1"/>
            <a:r>
              <a:rPr lang="en-US" sz="2600" b="1" dirty="0">
                <a:latin typeface="David" panose="020E0502060401010101" pitchFamily="34" charset="-79"/>
                <a:cs typeface="David" panose="020E0502060401010101" pitchFamily="34" charset="-79"/>
              </a:rPr>
              <a:t>Date Normalization: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Integrating a dedicated date-parser to convert "next Sunday" to </a:t>
            </a:r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YYYY-MM-DD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10" name="גרפיקה 9" descr="גרף ושלב משטחי זינוק נייר עם עיפרון">
            <a:extLst>
              <a:ext uri="{FF2B5EF4-FFF2-40B4-BE49-F238E27FC236}">
                <a16:creationId xmlns:a16="http://schemas.microsoft.com/office/drawing/2014/main" id="{4C8C7E6A-7529-0D24-7851-8FA7F794B8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3423" y="2938670"/>
            <a:ext cx="3308555" cy="330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412887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7116</TotalTime>
  <Words>620</Words>
  <Application>Microsoft Office PowerPoint</Application>
  <PresentationFormat>מסך רחב</PresentationFormat>
  <Paragraphs>87</Paragraphs>
  <Slides>13</Slides>
  <Notes>12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13</vt:i4>
      </vt:variant>
    </vt:vector>
  </HeadingPairs>
  <TitlesOfParts>
    <vt:vector size="18" baseType="lpstr">
      <vt:lpstr>Aptos</vt:lpstr>
      <vt:lpstr>Arial</vt:lpstr>
      <vt:lpstr>Bierstadt</vt:lpstr>
      <vt:lpstr>David</vt:lpstr>
      <vt:lpstr>GestaltVTI</vt:lpstr>
      <vt:lpstr>ActionSense  Final Presentation – Extracting Action Items from Unstructured &amp; Noisy Meeting Data     </vt:lpstr>
      <vt:lpstr>Review and project definition</vt:lpstr>
      <vt:lpstr>מצגת של PowerPoint‏</vt:lpstr>
      <vt:lpstr>Project achievements and novelty</vt:lpstr>
      <vt:lpstr>מצגת של PowerPoint‏</vt:lpstr>
      <vt:lpstr> Data Example</vt:lpstr>
      <vt:lpstr>methodology</vt:lpstr>
      <vt:lpstr>methodology</vt:lpstr>
      <vt:lpstr>Results</vt:lpstr>
      <vt:lpstr>Results</vt:lpstr>
      <vt:lpstr>מצגת של PowerPoint‏</vt:lpstr>
      <vt:lpstr>מצגת של PowerPoint‏</vt:lpstr>
      <vt:lpstr>Conclusion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Chaim Meir Weinberg</dc:creator>
  <cp:lastModifiedBy>Chaim Meir Weinberg</cp:lastModifiedBy>
  <cp:revision>19</cp:revision>
  <dcterms:created xsi:type="dcterms:W3CDTF">2025-11-05T17:19:25Z</dcterms:created>
  <dcterms:modified xsi:type="dcterms:W3CDTF">2026-01-28T15:42:36Z</dcterms:modified>
</cp:coreProperties>
</file>